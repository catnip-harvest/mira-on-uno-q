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" y="114300"/>
            <a:ext cx="11963095" cy="6629400"/>
          </a:xfrm>
          <a:prstGeom prst="rect">
            <a:avLst/>
          </a:prstGeom>
          <a:noFill/>
          <a:ln w="28575">
            <a:solidFill>
              <a:srgbClr val="202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73736" y="173736"/>
            <a:ext cx="11844223" cy="6510528"/>
          </a:xfrm>
          <a:prstGeom prst="rect">
            <a:avLst/>
          </a:prstGeom>
          <a:noFill/>
          <a:ln w="9525">
            <a:solidFill>
              <a:srgbClr val="202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" y="219456"/>
            <a:ext cx="4114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20242A"/>
                </a:solidFill>
                <a:latin typeface="Futura"/>
              </a:rPr>
              <a:t>J</a:t>
            </a:r>
          </a:p>
          <a:p>
            <a:pPr algn="ctr"/>
            <a:r>
              <a:rPr sz="1300" b="1" i="0">
                <a:solidFill>
                  <a:srgbClr val="BE1E2D"/>
                </a:solidFill>
                <a:latin typeface="Futura"/>
              </a:rPr>
              <a:t>♥</a:t>
            </a:r>
          </a:p>
        </p:txBody>
      </p:sp>
      <p:sp>
        <p:nvSpPr>
          <p:cNvPr id="5" name="TextBox 4"/>
          <p:cNvSpPr txBox="1"/>
          <p:nvPr/>
        </p:nvSpPr>
        <p:spPr>
          <a:xfrm rot="10800000">
            <a:off x="11530584" y="5943600"/>
            <a:ext cx="4114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20242A"/>
                </a:solidFill>
                <a:latin typeface="Futura"/>
              </a:rPr>
              <a:t>K</a:t>
            </a:r>
          </a:p>
          <a:p>
            <a:pPr algn="ctr"/>
            <a:r>
              <a:rPr sz="1300" b="1" i="0">
                <a:solidFill>
                  <a:srgbClr val="20242A"/>
                </a:solidFill>
                <a:latin typeface="Futura"/>
              </a:rPr>
              <a:t>♠</a:t>
            </a:r>
          </a:p>
        </p:txBody>
      </p:sp>
      <p:pic>
        <p:nvPicPr>
          <p:cNvPr id="6" name="Picture 5" descr="eye-in-hand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868680"/>
            <a:ext cx="1371600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2377440"/>
            <a:ext cx="1036015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0" b="1" i="0">
                <a:solidFill>
                  <a:srgbClr val="20242A"/>
                </a:solidFill>
                <a:latin typeface="Futura"/>
              </a:rPr>
              <a:t>MIRA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 i="1">
                <a:solidFill>
                  <a:srgbClr val="20242A"/>
                </a:solidFill>
                <a:latin typeface="Georgia"/>
              </a:rPr>
              <a:t>a robotic camera-inspection assistant on the Arduino UNO 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6F7377"/>
                </a:solidFill>
                <a:latin typeface="Courier New"/>
              </a:rPr>
              <a:t>TEAM JQK · QUALCOMM HACK CHALLENGE 2026 · OFFLINE — PRIVATE — HARDWARE-SAFE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" y="114300"/>
            <a:ext cx="11963095" cy="6629400"/>
          </a:xfrm>
          <a:prstGeom prst="rect">
            <a:avLst/>
          </a:prstGeom>
          <a:noFill/>
          <a:ln w="28575">
            <a:solidFill>
              <a:srgbClr val="202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73736" y="173736"/>
            <a:ext cx="11844223" cy="6510528"/>
          </a:xfrm>
          <a:prstGeom prst="rect">
            <a:avLst/>
          </a:prstGeom>
          <a:noFill/>
          <a:ln w="9525">
            <a:solidFill>
              <a:srgbClr val="202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" y="219456"/>
            <a:ext cx="4114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20242A"/>
                </a:solidFill>
                <a:latin typeface="Futura"/>
              </a:rPr>
              <a:t>J</a:t>
            </a:r>
          </a:p>
          <a:p>
            <a:pPr algn="ctr"/>
            <a:r>
              <a:rPr sz="1300" b="1" i="0">
                <a:solidFill>
                  <a:srgbClr val="BE1E2D"/>
                </a:solidFill>
                <a:latin typeface="Futura"/>
              </a:rPr>
              <a:t>♥</a:t>
            </a:r>
          </a:p>
        </p:txBody>
      </p:sp>
      <p:sp>
        <p:nvSpPr>
          <p:cNvPr id="5" name="TextBox 4"/>
          <p:cNvSpPr txBox="1"/>
          <p:nvPr/>
        </p:nvSpPr>
        <p:spPr>
          <a:xfrm rot="10800000">
            <a:off x="11530584" y="5943600"/>
            <a:ext cx="4114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20242A"/>
                </a:solidFill>
                <a:latin typeface="Futura"/>
              </a:rPr>
              <a:t>K</a:t>
            </a:r>
          </a:p>
          <a:p>
            <a:pPr algn="ctr"/>
            <a:r>
              <a:rPr sz="1300" b="1" i="0">
                <a:solidFill>
                  <a:srgbClr val="20242A"/>
                </a:solidFill>
                <a:latin typeface="Futura"/>
              </a:rPr>
              <a:t>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BE1E2D"/>
                </a:solidFill>
                <a:latin typeface="Courier New"/>
              </a:rPr>
              <a:t>01 · WHO WE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20242A"/>
                </a:solidFill>
                <a:latin typeface="Futura"/>
              </a:rPr>
              <a:t>Team JQK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481328"/>
            <a:ext cx="10817352" cy="20116"/>
          </a:xfrm>
          <a:prstGeom prst="rect">
            <a:avLst/>
          </a:prstGeom>
          <a:solidFill>
            <a:srgbClr val="20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20242A"/>
                </a:solidFill>
                <a:latin typeface="Futura"/>
              </a:rPr>
              <a:t>FIVE STUDENTS, ONE ARM.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75688"/>
            <a:ext cx="6126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0242A"/>
                </a:solidFill>
                <a:latin typeface="Georgia"/>
              </a:rPr>
              <a:t>We wanted a robot arm to do something real — not just wave at the camera.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20242A"/>
                </a:solidFill>
                <a:latin typeface="Futura"/>
              </a:rPr>
              <a:t>ROLES.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35808"/>
            <a:ext cx="6126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0242A"/>
                </a:solidFill>
                <a:latin typeface="Georgia"/>
              </a:rPr>
              <a:t>Firmware &amp; safety interlock · servo control &amp; drivers · XR teleoperation · computer vision &amp; ML · product &amp; demo.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40480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20242A"/>
                </a:solidFill>
                <a:latin typeface="Futura"/>
              </a:rPr>
              <a:t>ONE RULE WE BUILD BY.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33088"/>
            <a:ext cx="6126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BE1E2D"/>
                </a:solidFill>
                <a:latin typeface="Georgia"/>
              </a:rPr>
              <a:t>Every feature must run with the Wi-Fi router unplugged.</a:t>
            </a:r>
          </a:p>
        </p:txBody>
      </p:sp>
      <p:pic>
        <p:nvPicPr>
          <p:cNvPr id="15" name="Picture 14" descr="WhatsApp Image 2026-08-15 at 10.40.3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737360"/>
            <a:ext cx="3154680" cy="4206240"/>
          </a:xfrm>
          <a:prstGeom prst="rect">
            <a:avLst/>
          </a:prstGeom>
          <a:ln w="19050">
            <a:solidFill>
              <a:srgbClr val="20242A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7818120" y="5998464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6F7377"/>
                </a:solidFill>
                <a:latin typeface="Courier New"/>
              </a:rPr>
              <a:t>the hacker house, shipping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F7377"/>
                </a:solidFill>
                <a:latin typeface="Courier New"/>
              </a:rPr>
              <a:t>TEAM JQK — MIRA ON UNO 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55664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F7377"/>
                </a:solidFill>
                <a:latin typeface="Courier New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" y="114300"/>
            <a:ext cx="11963095" cy="6629400"/>
          </a:xfrm>
          <a:prstGeom prst="rect">
            <a:avLst/>
          </a:prstGeom>
          <a:noFill/>
          <a:ln w="28575">
            <a:solidFill>
              <a:srgbClr val="202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73736" y="173736"/>
            <a:ext cx="11844223" cy="6510528"/>
          </a:xfrm>
          <a:prstGeom prst="rect">
            <a:avLst/>
          </a:prstGeom>
          <a:noFill/>
          <a:ln w="9525">
            <a:solidFill>
              <a:srgbClr val="202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" y="219456"/>
            <a:ext cx="4114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20242A"/>
                </a:solidFill>
                <a:latin typeface="Futura"/>
              </a:rPr>
              <a:t>J</a:t>
            </a:r>
          </a:p>
          <a:p>
            <a:pPr algn="ctr"/>
            <a:r>
              <a:rPr sz="1300" b="1" i="0">
                <a:solidFill>
                  <a:srgbClr val="BE1E2D"/>
                </a:solidFill>
                <a:latin typeface="Futura"/>
              </a:rPr>
              <a:t>♥</a:t>
            </a:r>
          </a:p>
        </p:txBody>
      </p:sp>
      <p:sp>
        <p:nvSpPr>
          <p:cNvPr id="5" name="TextBox 4"/>
          <p:cNvSpPr txBox="1"/>
          <p:nvPr/>
        </p:nvSpPr>
        <p:spPr>
          <a:xfrm rot="10800000">
            <a:off x="11530584" y="5943600"/>
            <a:ext cx="4114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20242A"/>
                </a:solidFill>
                <a:latin typeface="Futura"/>
              </a:rPr>
              <a:t>K</a:t>
            </a:r>
          </a:p>
          <a:p>
            <a:pPr algn="ctr"/>
            <a:r>
              <a:rPr sz="1300" b="1" i="0">
                <a:solidFill>
                  <a:srgbClr val="20242A"/>
                </a:solidFill>
                <a:latin typeface="Futura"/>
              </a:rPr>
              <a:t>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BE1E2D"/>
                </a:solidFill>
                <a:latin typeface="Courier New"/>
              </a:rPr>
              <a:t>02 · PROBLEM →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20242A"/>
                </a:solidFill>
                <a:latin typeface="Futura"/>
              </a:rPr>
              <a:t>Close-up inspection is manual, hazardous, or cloud-bound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481328"/>
            <a:ext cx="10817352" cy="20116"/>
          </a:xfrm>
          <a:prstGeom prst="rect">
            <a:avLst/>
          </a:prstGeom>
          <a:solidFill>
            <a:srgbClr val="20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5760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20242A"/>
                </a:solidFill>
                <a:latin typeface="Futura"/>
              </a:rPr>
              <a:t>PROBLEM.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75688"/>
            <a:ext cx="5760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20242A"/>
                </a:solidFill>
                <a:latin typeface="Georgia"/>
              </a:rPr>
              <a:t>Inspecting objects up close means hands, ladders or expensive rigs — and the smart-camera products that exist stream your video to someone else’s cloud.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71800"/>
            <a:ext cx="5760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20242A"/>
                </a:solidFill>
                <a:latin typeface="Futura"/>
              </a:rPr>
              <a:t>PRODUCT.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64408"/>
            <a:ext cx="5760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20242A"/>
                </a:solidFill>
                <a:latin typeface="Georgia"/>
              </a:rPr>
              <a:t>Mira: an SO-101 arm carries a camera you steer from a phone in XR. It scans, inspects, records and replays trajectories.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69080"/>
            <a:ext cx="5760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20242A"/>
                </a:solidFill>
                <a:latin typeface="Futura"/>
              </a:rPr>
              <a:t>THE TWIST.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61688"/>
            <a:ext cx="5760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20242A"/>
                </a:solidFill>
                <a:latin typeface="Georgia"/>
              </a:rPr>
              <a:t>Control, capture and the UI itself run on one 2 GB UNO Q. No GPU, no cloud — nothing leaves the device.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1783080"/>
            <a:ext cx="4572000" cy="4343400"/>
          </a:xfrm>
          <a:prstGeom prst="rect">
            <a:avLst/>
          </a:prstGeom>
          <a:solidFill>
            <a:srgbClr val="F3F2ED"/>
          </a:solidFill>
          <a:ln w="19050">
            <a:solidFill>
              <a:srgbClr val="202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0" y="193852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0242A"/>
                </a:solidFill>
                <a:latin typeface="Courier New"/>
              </a:rPr>
              <a:t>FIG. 2 — THE LOOP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2331720"/>
            <a:ext cx="4023360" cy="347472"/>
          </a:xfrm>
          <a:prstGeom prst="rect">
            <a:avLst/>
          </a:prstGeom>
          <a:solidFill>
            <a:srgbClr val="F3F2ED"/>
          </a:solidFill>
          <a:ln w="15240">
            <a:solidFill>
              <a:srgbClr val="202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51192" y="2377439"/>
            <a:ext cx="38770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20242A"/>
                </a:solidFill>
                <a:latin typeface="Futura"/>
              </a:rPr>
              <a:t>PHONE — WebXR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679191"/>
            <a:ext cx="4023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6F7377"/>
                </a:solidFill>
                <a:latin typeface="Courier New"/>
              </a:rPr>
              <a:t>Wi-Fi · the board is the access point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2916935"/>
            <a:ext cx="4023360" cy="475488"/>
          </a:xfrm>
          <a:prstGeom prst="rect">
            <a:avLst/>
          </a:prstGeom>
          <a:solidFill>
            <a:srgbClr val="F3F2ED"/>
          </a:solidFill>
          <a:ln w="15240">
            <a:solidFill>
              <a:srgbClr val="202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51192" y="2962655"/>
            <a:ext cx="387705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20242A"/>
                </a:solidFill>
                <a:latin typeface="Futura"/>
              </a:rPr>
              <a:t>UNO Q — QRB2210 · DEBIAN</a:t>
            </a:r>
          </a:p>
          <a:p>
            <a:pPr algn="ctr"/>
            <a:r>
              <a:rPr sz="850" b="0" i="0">
                <a:solidFill>
                  <a:srgbClr val="6F7377"/>
                </a:solidFill>
                <a:latin typeface="Courier New"/>
              </a:rPr>
              <a:t>capture · 100 Hz control · web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392423"/>
            <a:ext cx="4023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6F7377"/>
                </a:solidFill>
                <a:latin typeface="Courier New"/>
              </a:rPr>
              <a:t>USB serial · 1 Mbaud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3630168"/>
            <a:ext cx="4023360" cy="347472"/>
          </a:xfrm>
          <a:prstGeom prst="rect">
            <a:avLst/>
          </a:prstGeom>
          <a:solidFill>
            <a:srgbClr val="F3F2ED"/>
          </a:solidFill>
          <a:ln w="15240">
            <a:solidFill>
              <a:srgbClr val="202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51192" y="3675887"/>
            <a:ext cx="38770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20242A"/>
                </a:solidFill>
                <a:latin typeface="Futura"/>
              </a:rPr>
              <a:t>SO-101 ARM + WRIST CAM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977639"/>
            <a:ext cx="4023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BE1E2D"/>
                </a:solidFill>
                <a:latin typeface="Courier New"/>
              </a:rPr>
              <a:t>12 V rail — relay-gated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4215383"/>
            <a:ext cx="4023360" cy="347472"/>
          </a:xfrm>
          <a:prstGeom prst="rect">
            <a:avLst/>
          </a:prstGeom>
          <a:solidFill>
            <a:srgbClr val="F3F2ED"/>
          </a:solidFill>
          <a:ln w="15240">
            <a:solidFill>
              <a:srgbClr val="BE1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51192" y="4261103"/>
            <a:ext cx="38770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BE1E2D"/>
                </a:solidFill>
                <a:latin typeface="Futura"/>
              </a:rPr>
              <a:t>STM32 SAFETY INTERLOCK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F7377"/>
                </a:solidFill>
                <a:latin typeface="Courier New"/>
              </a:rPr>
              <a:t>TEAM JQK — MIRA ON UNO 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455664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F7377"/>
                </a:solidFill>
                <a:latin typeface="Courier New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" y="114300"/>
            <a:ext cx="11963095" cy="6629400"/>
          </a:xfrm>
          <a:prstGeom prst="rect">
            <a:avLst/>
          </a:prstGeom>
          <a:noFill/>
          <a:ln w="28575">
            <a:solidFill>
              <a:srgbClr val="202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73736" y="173736"/>
            <a:ext cx="11844223" cy="6510528"/>
          </a:xfrm>
          <a:prstGeom prst="rect">
            <a:avLst/>
          </a:prstGeom>
          <a:noFill/>
          <a:ln w="9525">
            <a:solidFill>
              <a:srgbClr val="202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" y="219456"/>
            <a:ext cx="4114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20242A"/>
                </a:solidFill>
                <a:latin typeface="Futura"/>
              </a:rPr>
              <a:t>J</a:t>
            </a:r>
          </a:p>
          <a:p>
            <a:pPr algn="ctr"/>
            <a:r>
              <a:rPr sz="1300" b="1" i="0">
                <a:solidFill>
                  <a:srgbClr val="BE1E2D"/>
                </a:solidFill>
                <a:latin typeface="Futura"/>
              </a:rPr>
              <a:t>♥</a:t>
            </a:r>
          </a:p>
        </p:txBody>
      </p:sp>
      <p:sp>
        <p:nvSpPr>
          <p:cNvPr id="5" name="TextBox 4"/>
          <p:cNvSpPr txBox="1"/>
          <p:nvPr/>
        </p:nvSpPr>
        <p:spPr>
          <a:xfrm rot="10800000">
            <a:off x="11530584" y="5943600"/>
            <a:ext cx="4114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20242A"/>
                </a:solidFill>
                <a:latin typeface="Futura"/>
              </a:rPr>
              <a:t>K</a:t>
            </a:r>
          </a:p>
          <a:p>
            <a:pPr algn="ctr"/>
            <a:r>
              <a:rPr sz="1300" b="1" i="0">
                <a:solidFill>
                  <a:srgbClr val="20242A"/>
                </a:solidFill>
                <a:latin typeface="Futura"/>
              </a:rPr>
              <a:t>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BE1E2D"/>
                </a:solidFill>
                <a:latin typeface="Courier New"/>
              </a:rPr>
              <a:t>03 · FEATURES &amp;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20242A"/>
                </a:solidFill>
                <a:latin typeface="Futura"/>
              </a:rPr>
              <a:t>What you will see 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481328"/>
            <a:ext cx="10817352" cy="20116"/>
          </a:xfrm>
          <a:prstGeom prst="rect">
            <a:avLst/>
          </a:prstGeom>
          <a:solidFill>
            <a:srgbClr val="20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5760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20242A"/>
                </a:solidFill>
                <a:latin typeface="Futura"/>
              </a:rPr>
              <a:t>WORKING.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75688"/>
            <a:ext cx="5760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20242A"/>
                </a:solidFill>
                <a:latin typeface="Georgia"/>
              </a:rPr>
              <a:t>100 Hz servo control · camera capture · trajectory record &amp; replay · fail-safe servo-power interlock.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5760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BE1E2D"/>
                </a:solidFill>
                <a:latin typeface="Futura"/>
              </a:rPr>
              <a:t>IN PROGRESS.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81527"/>
            <a:ext cx="5760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20242A"/>
                </a:solidFill>
                <a:latin typeface="Georgia"/>
              </a:rPr>
              <a:t>XR teleoperation from an Android phone (WebXR + ARCore).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11880"/>
            <a:ext cx="5760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20242A"/>
                </a:solidFill>
                <a:latin typeface="Futura"/>
              </a:rPr>
              <a:t>DEMO 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04488"/>
            <a:ext cx="5760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20242A"/>
                </a:solidFill>
                <a:latin typeface="Georgia"/>
              </a:rPr>
              <a:t>Arm the interlock → steer from the phone → replay the scan → pull the heartbeat, watch the rail drop.</a:t>
            </a:r>
          </a:p>
        </p:txBody>
      </p:sp>
      <p:pic>
        <p:nvPicPr>
          <p:cNvPr id="15" name="linkedin-video (3)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13232" y="4550734"/>
            <a:ext cx="3522610" cy="19780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89120" y="5394960"/>
            <a:ext cx="2103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dirty="0">
                <a:solidFill>
                  <a:srgbClr val="6F7377"/>
                </a:solidFill>
                <a:latin typeface="Courier New"/>
              </a:rPr>
              <a:t>DEMO VIDEO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1783080"/>
            <a:ext cx="4572000" cy="4343400"/>
          </a:xfrm>
          <a:prstGeom prst="rect">
            <a:avLst/>
          </a:prstGeom>
          <a:solidFill>
            <a:srgbClr val="F3E2E1"/>
          </a:solidFill>
          <a:ln w="19050">
            <a:solidFill>
              <a:srgbClr val="BE1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193852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BE1E2D"/>
                </a:solidFill>
                <a:latin typeface="Courier New"/>
              </a:rPr>
              <a:t>NOTICE — SAFETY IS A FEATURE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286000"/>
            <a:ext cx="4114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20242A"/>
                </a:solidFill>
                <a:latin typeface="Georgia"/>
              </a:rPr>
              <a:t>Board power-off does </a:t>
            </a:r>
            <a:r>
              <a:rPr sz="1250" b="1" i="0">
                <a:solidFill>
                  <a:srgbClr val="BE1E2D"/>
                </a:solidFill>
                <a:latin typeface="Georgia"/>
              </a:rPr>
              <a:t>not</a:t>
            </a:r>
            <a:r>
              <a:rPr sz="1250" b="0" i="0">
                <a:solidFill>
                  <a:srgbClr val="20242A"/>
                </a:solidFill>
                <a:latin typeface="Georgia"/>
              </a:rPr>
              <a:t> stop the arm — servos freeze rigid. So the MCU alone gates the 12 V rail: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291840"/>
            <a:ext cx="41148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0242A"/>
                </a:solidFill>
                <a:latin typeface="Courier New"/>
              </a:rPr>
              <a:t>heartbeat stale → </a:t>
            </a:r>
            <a:r>
              <a:rPr sz="1100" b="1" i="0">
                <a:solidFill>
                  <a:srgbClr val="BE1E2D"/>
                </a:solidFill>
                <a:latin typeface="Courier New"/>
              </a:rPr>
              <a:t>rail drops</a:t>
            </a:r>
          </a:p>
          <a:p>
            <a:pPr algn="l"/>
            <a:r>
              <a:rPr sz="1100" b="0" i="0">
                <a:solidFill>
                  <a:srgbClr val="20242A"/>
                </a:solidFill>
                <a:latin typeface="Courier New"/>
              </a:rPr>
              <a:t>E-stop opens → </a:t>
            </a:r>
            <a:r>
              <a:rPr sz="1100" b="1" i="0">
                <a:solidFill>
                  <a:srgbClr val="BE1E2D"/>
                </a:solidFill>
                <a:latin typeface="Courier New"/>
              </a:rPr>
              <a:t>rail drops</a:t>
            </a:r>
          </a:p>
          <a:p>
            <a:pPr algn="l"/>
            <a:r>
              <a:rPr sz="1100" b="0" i="0">
                <a:solidFill>
                  <a:srgbClr val="20242A"/>
                </a:solidFill>
                <a:latin typeface="Courier New"/>
              </a:rPr>
              <a:t>corrupt frame → </a:t>
            </a:r>
            <a:r>
              <a:rPr sz="1100" b="1" i="0">
                <a:solidFill>
                  <a:srgbClr val="BE1E2D"/>
                </a:solidFill>
                <a:latin typeface="Courier New"/>
              </a:rPr>
              <a:t>rail drops</a:t>
            </a:r>
          </a:p>
          <a:p>
            <a:pPr algn="l"/>
            <a:r>
              <a:rPr sz="1100" b="0" i="0">
                <a:solidFill>
                  <a:srgbClr val="20242A"/>
                </a:solidFill>
                <a:latin typeface="Courier New"/>
              </a:rPr>
              <a:t>faults latch → </a:t>
            </a:r>
            <a:r>
              <a:rPr sz="1100" b="1" i="0">
                <a:solidFill>
                  <a:srgbClr val="BE1E2D"/>
                </a:solidFill>
                <a:latin typeface="Courier New"/>
              </a:rPr>
              <a:t>a human resets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512064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BE1E2D"/>
                </a:solidFill>
                <a:latin typeface="Georgia"/>
              </a:rPr>
              <a:t>Linux cannot override it. We demo this live.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F7377"/>
                </a:solidFill>
                <a:latin typeface="Courier New"/>
              </a:rPr>
              <a:t>TEAM JQK — MIRA ON UNO 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455664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F7377"/>
                </a:solidFill>
                <a:latin typeface="Courier New"/>
              </a:rPr>
              <a:t>4 /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" y="114300"/>
            <a:ext cx="11963095" cy="6629400"/>
          </a:xfrm>
          <a:prstGeom prst="rect">
            <a:avLst/>
          </a:prstGeom>
          <a:noFill/>
          <a:ln w="28575">
            <a:solidFill>
              <a:srgbClr val="202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73736" y="173736"/>
            <a:ext cx="11844223" cy="6510528"/>
          </a:xfrm>
          <a:prstGeom prst="rect">
            <a:avLst/>
          </a:prstGeom>
          <a:noFill/>
          <a:ln w="9525">
            <a:solidFill>
              <a:srgbClr val="202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" y="219456"/>
            <a:ext cx="4114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20242A"/>
                </a:solidFill>
                <a:latin typeface="Futura"/>
              </a:rPr>
              <a:t>J</a:t>
            </a:r>
          </a:p>
          <a:p>
            <a:pPr algn="ctr"/>
            <a:r>
              <a:rPr sz="1300" b="1" i="0">
                <a:solidFill>
                  <a:srgbClr val="BE1E2D"/>
                </a:solidFill>
                <a:latin typeface="Futura"/>
              </a:rPr>
              <a:t>♥</a:t>
            </a:r>
          </a:p>
        </p:txBody>
      </p:sp>
      <p:sp>
        <p:nvSpPr>
          <p:cNvPr id="5" name="TextBox 4"/>
          <p:cNvSpPr txBox="1"/>
          <p:nvPr/>
        </p:nvSpPr>
        <p:spPr>
          <a:xfrm rot="10800000">
            <a:off x="11530584" y="5943600"/>
            <a:ext cx="4114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20242A"/>
                </a:solidFill>
                <a:latin typeface="Futura"/>
              </a:rPr>
              <a:t>K</a:t>
            </a:r>
          </a:p>
          <a:p>
            <a:pPr algn="ctr"/>
            <a:r>
              <a:rPr sz="1300" b="1" i="0">
                <a:solidFill>
                  <a:srgbClr val="20242A"/>
                </a:solidFill>
                <a:latin typeface="Futura"/>
              </a:rPr>
              <a:t>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BE1E2D"/>
                </a:solidFill>
                <a:latin typeface="Courier New"/>
              </a:rPr>
              <a:t>04 · WHAT’S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20242A"/>
                </a:solidFill>
                <a:latin typeface="Futura"/>
              </a:rPr>
              <a:t>From teleop to autonomy — still offline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481328"/>
            <a:ext cx="10817352" cy="20116"/>
          </a:xfrm>
          <a:prstGeom prst="rect">
            <a:avLst/>
          </a:prstGeom>
          <a:solidFill>
            <a:srgbClr val="20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10332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20242A"/>
                </a:solidFill>
                <a:latin typeface="Futura"/>
              </a:rPr>
              <a:t>NOW → HACK DAY.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20242A"/>
                </a:solidFill>
                <a:latin typeface="Georgia"/>
              </a:rPr>
              <a:t>Finish XR teleop · capture demo footage · harden the USB boot-order workaround.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80360"/>
            <a:ext cx="10332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20242A"/>
                </a:solidFill>
                <a:latin typeface="Futura"/>
              </a:rPr>
              <a:t>NEXT MONTH.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72968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20242A"/>
                </a:solidFill>
                <a:latin typeface="Georgia"/>
              </a:rPr>
              <a:t>On-device 3D reconstruction (visual hull) from arm-swept captures · voice control with on-device speech-to-text.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31920"/>
            <a:ext cx="10332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20242A"/>
                </a:solidFill>
                <a:latin typeface="Futura"/>
              </a:rPr>
              <a:t>AFTER.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24528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20242A"/>
                </a:solidFill>
                <a:latin typeface="Georgia"/>
              </a:rPr>
              <a:t>LeRobot-format datasets from replayed trajectories → train small imitation policies that run on the QRB2210. </a:t>
            </a:r>
            <a:r>
              <a:rPr sz="1350" b="1" i="0">
                <a:solidFill>
                  <a:srgbClr val="BE1E2D"/>
                </a:solidFill>
                <a:latin typeface="Georgia"/>
              </a:rPr>
              <a:t>The arm learns the inspection, then does it alone.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F7377"/>
                </a:solidFill>
                <a:latin typeface="Courier New"/>
              </a:rPr>
              <a:t>TEAM JQK — MIRA ON UNO 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55664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F7377"/>
                </a:solidFill>
                <a:latin typeface="Courier New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" y="114300"/>
            <a:ext cx="11963095" cy="6629400"/>
          </a:xfrm>
          <a:prstGeom prst="rect">
            <a:avLst/>
          </a:prstGeom>
          <a:noFill/>
          <a:ln w="28575">
            <a:solidFill>
              <a:srgbClr val="202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73736" y="173736"/>
            <a:ext cx="11844223" cy="6510528"/>
          </a:xfrm>
          <a:prstGeom prst="rect">
            <a:avLst/>
          </a:prstGeom>
          <a:noFill/>
          <a:ln w="9525">
            <a:solidFill>
              <a:srgbClr val="202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" y="219456"/>
            <a:ext cx="4114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20242A"/>
                </a:solidFill>
                <a:latin typeface="Futura"/>
              </a:rPr>
              <a:t>J</a:t>
            </a:r>
          </a:p>
          <a:p>
            <a:pPr algn="ctr"/>
            <a:r>
              <a:rPr sz="1300" b="1" i="0">
                <a:solidFill>
                  <a:srgbClr val="BE1E2D"/>
                </a:solidFill>
                <a:latin typeface="Futura"/>
              </a:rPr>
              <a:t>♥</a:t>
            </a:r>
          </a:p>
        </p:txBody>
      </p:sp>
      <p:sp>
        <p:nvSpPr>
          <p:cNvPr id="5" name="TextBox 4"/>
          <p:cNvSpPr txBox="1"/>
          <p:nvPr/>
        </p:nvSpPr>
        <p:spPr>
          <a:xfrm rot="10800000">
            <a:off x="11530584" y="5943600"/>
            <a:ext cx="4114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20242A"/>
                </a:solidFill>
                <a:latin typeface="Futura"/>
              </a:rPr>
              <a:t>K</a:t>
            </a:r>
          </a:p>
          <a:p>
            <a:pPr algn="ctr"/>
            <a:r>
              <a:rPr sz="1300" b="1" i="0">
                <a:solidFill>
                  <a:srgbClr val="20242A"/>
                </a:solidFill>
                <a:latin typeface="Futura"/>
              </a:rPr>
              <a:t>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94457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1" i="0">
                <a:solidFill>
                  <a:srgbClr val="20242A"/>
                </a:solidFill>
                <a:latin typeface="Futura"/>
              </a:rPr>
              <a:t>Mira — inspection that works anywhere.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29000"/>
            <a:ext cx="9445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 i="1">
                <a:solidFill>
                  <a:srgbClr val="BE1E2D"/>
                </a:solidFill>
                <a:latin typeface="Georgia"/>
              </a:rPr>
              <a:t>Because it never needed anywhere else.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9445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6F7377"/>
                </a:solidFill>
                <a:latin typeface="Courier New"/>
              </a:rPr>
              <a:t>github.com/Catnip-harvest/Mira-on-Uno-Q · TEAM JQK ·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546</Words>
  <Application>Microsoft Macintosh PowerPoint</Application>
  <PresentationFormat>Widescreen</PresentationFormat>
  <Paragraphs>88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Courier New</vt:lpstr>
      <vt:lpstr>Futura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Edward Tran</cp:lastModifiedBy>
  <cp:revision>2</cp:revision>
  <dcterms:created xsi:type="dcterms:W3CDTF">2013-01-27T09:14:16Z</dcterms:created>
  <dcterms:modified xsi:type="dcterms:W3CDTF">2026-08-15T04:28:19Z</dcterms:modified>
  <cp:category/>
</cp:coreProperties>
</file>